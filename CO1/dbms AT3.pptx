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heed" userId="a3b45e4450f01762" providerId="LiveId" clId="{CECCA622-4F77-4243-B3A0-EC36105033AD}"/>
    <pc:docChg chg="custSel addSld modSld sldOrd modMainMaster">
      <pc:chgData name="Mohammad Naheed" userId="a3b45e4450f01762" providerId="LiveId" clId="{CECCA622-4F77-4243-B3A0-EC36105033AD}" dt="2026-07-24T03:01:11.158" v="260" actId="732"/>
      <pc:docMkLst>
        <pc:docMk/>
      </pc:docMkLst>
      <pc:sldChg chg="addSp modSp mod">
        <pc:chgData name="Mohammad Naheed" userId="a3b45e4450f01762" providerId="LiveId" clId="{CECCA622-4F77-4243-B3A0-EC36105033AD}" dt="2026-07-22T09:21:19.189" v="208" actId="20577"/>
        <pc:sldMkLst>
          <pc:docMk/>
          <pc:sldMk cId="674700979" sldId="256"/>
        </pc:sldMkLst>
        <pc:spChg chg="mod">
          <ac:chgData name="Mohammad Naheed" userId="a3b45e4450f01762" providerId="LiveId" clId="{CECCA622-4F77-4243-B3A0-EC36105033AD}" dt="2026-07-22T07:50:38.413" v="44" actId="1076"/>
          <ac:spMkLst>
            <pc:docMk/>
            <pc:sldMk cId="674700979" sldId="256"/>
            <ac:spMk id="2" creationId="{34C59090-5EE3-53B2-5ED9-8A24E2665AB7}"/>
          </ac:spMkLst>
        </pc:spChg>
        <pc:spChg chg="mod">
          <ac:chgData name="Mohammad Naheed" userId="a3b45e4450f01762" providerId="LiveId" clId="{CECCA622-4F77-4243-B3A0-EC36105033AD}" dt="2026-07-22T09:20:21.091" v="132" actId="20577"/>
          <ac:spMkLst>
            <pc:docMk/>
            <pc:sldMk cId="674700979" sldId="256"/>
            <ac:spMk id="3" creationId="{8F261227-49D9-9A55-254D-7313D671860B}"/>
          </ac:spMkLst>
        </pc:spChg>
        <pc:spChg chg="mod">
          <ac:chgData name="Mohammad Naheed" userId="a3b45e4450f01762" providerId="LiveId" clId="{CECCA622-4F77-4243-B3A0-EC36105033AD}" dt="2026-07-22T09:19:40.038" v="73" actId="14100"/>
          <ac:spMkLst>
            <pc:docMk/>
            <pc:sldMk cId="674700979" sldId="256"/>
            <ac:spMk id="4" creationId="{F3D45EFB-3352-7AE0-1695-F240E8CD3919}"/>
          </ac:spMkLst>
        </pc:spChg>
        <pc:spChg chg="add mod">
          <ac:chgData name="Mohammad Naheed" userId="a3b45e4450f01762" providerId="LiveId" clId="{CECCA622-4F77-4243-B3A0-EC36105033AD}" dt="2026-07-22T09:21:19.189" v="208" actId="20577"/>
          <ac:spMkLst>
            <pc:docMk/>
            <pc:sldMk cId="674700979" sldId="256"/>
            <ac:spMk id="5" creationId="{570AFCDA-A12B-0922-7BF8-A079C4EE58F9}"/>
          </ac:spMkLst>
        </pc:spChg>
      </pc:sldChg>
      <pc:sldChg chg="addSp modSp mod">
        <pc:chgData name="Mohammad Naheed" userId="a3b45e4450f01762" providerId="LiveId" clId="{CECCA622-4F77-4243-B3A0-EC36105033AD}" dt="2026-07-24T02:56:32.761" v="240" actId="1076"/>
        <pc:sldMkLst>
          <pc:docMk/>
          <pc:sldMk cId="538313893" sldId="259"/>
        </pc:sldMkLst>
        <pc:picChg chg="add mod">
          <ac:chgData name="Mohammad Naheed" userId="a3b45e4450f01762" providerId="LiveId" clId="{CECCA622-4F77-4243-B3A0-EC36105033AD}" dt="2026-07-24T02:56:32.761" v="240" actId="1076"/>
          <ac:picMkLst>
            <pc:docMk/>
            <pc:sldMk cId="538313893" sldId="259"/>
            <ac:picMk id="7" creationId="{FDBD09B1-A214-3E91-2E84-67C86D39C219}"/>
          </ac:picMkLst>
        </pc:picChg>
      </pc:sldChg>
      <pc:sldChg chg="addSp modSp mod">
        <pc:chgData name="Mohammad Naheed" userId="a3b45e4450f01762" providerId="LiveId" clId="{CECCA622-4F77-4243-B3A0-EC36105033AD}" dt="2026-07-24T02:58:16.426" v="248" actId="1076"/>
        <pc:sldMkLst>
          <pc:docMk/>
          <pc:sldMk cId="3544755724" sldId="262"/>
        </pc:sldMkLst>
        <pc:picChg chg="add mod">
          <ac:chgData name="Mohammad Naheed" userId="a3b45e4450f01762" providerId="LiveId" clId="{CECCA622-4F77-4243-B3A0-EC36105033AD}" dt="2026-07-24T02:58:16.426" v="248" actId="1076"/>
          <ac:picMkLst>
            <pc:docMk/>
            <pc:sldMk cId="3544755724" sldId="262"/>
            <ac:picMk id="7" creationId="{58C6D0FC-0055-5433-1BC4-B8A7F87432DB}"/>
          </ac:picMkLst>
        </pc:picChg>
      </pc:sldChg>
      <pc:sldChg chg="addSp delSp modSp mod">
        <pc:chgData name="Mohammad Naheed" userId="a3b45e4450f01762" providerId="LiveId" clId="{CECCA622-4F77-4243-B3A0-EC36105033AD}" dt="2026-07-24T02:58:20.985" v="249" actId="478"/>
        <pc:sldMkLst>
          <pc:docMk/>
          <pc:sldMk cId="2172834083" sldId="263"/>
        </pc:sldMkLst>
        <pc:picChg chg="add del mod">
          <ac:chgData name="Mohammad Naheed" userId="a3b45e4450f01762" providerId="LiveId" clId="{CECCA622-4F77-4243-B3A0-EC36105033AD}" dt="2026-07-24T02:58:20.985" v="249" actId="478"/>
          <ac:picMkLst>
            <pc:docMk/>
            <pc:sldMk cId="2172834083" sldId="263"/>
            <ac:picMk id="7" creationId="{4F200090-FC81-70AB-85A0-6DC791A0B10D}"/>
          </ac:picMkLst>
        </pc:picChg>
      </pc:sldChg>
      <pc:sldChg chg="addSp modSp mod">
        <pc:chgData name="Mohammad Naheed" userId="a3b45e4450f01762" providerId="LiveId" clId="{CECCA622-4F77-4243-B3A0-EC36105033AD}" dt="2026-07-24T03:00:04.020" v="254" actId="14100"/>
        <pc:sldMkLst>
          <pc:docMk/>
          <pc:sldMk cId="2223586045" sldId="271"/>
        </pc:sldMkLst>
        <pc:picChg chg="add mod">
          <ac:chgData name="Mohammad Naheed" userId="a3b45e4450f01762" providerId="LiveId" clId="{CECCA622-4F77-4243-B3A0-EC36105033AD}" dt="2026-07-24T03:00:04.020" v="254" actId="14100"/>
          <ac:picMkLst>
            <pc:docMk/>
            <pc:sldMk cId="2223586045" sldId="271"/>
            <ac:picMk id="8" creationId="{4B9D0D05-72FD-2744-21EA-55CDA607D4D2}"/>
          </ac:picMkLst>
        </pc:picChg>
      </pc:sldChg>
      <pc:sldChg chg="addSp modSp mod">
        <pc:chgData name="Mohammad Naheed" userId="a3b45e4450f01762" providerId="LiveId" clId="{CECCA622-4F77-4243-B3A0-EC36105033AD}" dt="2026-07-24T03:01:11.158" v="260" actId="732"/>
        <pc:sldMkLst>
          <pc:docMk/>
          <pc:sldMk cId="2750328577" sldId="274"/>
        </pc:sldMkLst>
        <pc:picChg chg="add mod modCrop">
          <ac:chgData name="Mohammad Naheed" userId="a3b45e4450f01762" providerId="LiveId" clId="{CECCA622-4F77-4243-B3A0-EC36105033AD}" dt="2026-07-24T03:01:11.158" v="260" actId="732"/>
          <ac:picMkLst>
            <pc:docMk/>
            <pc:sldMk cId="2750328577" sldId="274"/>
            <ac:picMk id="7" creationId="{B2115ADB-1CE9-6E39-F2AF-997359182E16}"/>
          </ac:picMkLst>
        </pc:picChg>
      </pc:sldChg>
      <pc:sldChg chg="delSp mod">
        <pc:chgData name="Mohammad Naheed" userId="a3b45e4450f01762" providerId="LiveId" clId="{CECCA622-4F77-4243-B3A0-EC36105033AD}" dt="2026-07-22T07:48:15.193" v="1" actId="478"/>
        <pc:sldMkLst>
          <pc:docMk/>
          <pc:sldMk cId="2865736871" sldId="276"/>
        </pc:sldMkLst>
      </pc:sldChg>
      <pc:sldChg chg="delSp modSp new mod ord">
        <pc:chgData name="Mohammad Naheed" userId="a3b45e4450f01762" providerId="LiveId" clId="{CECCA622-4F77-4243-B3A0-EC36105033AD}" dt="2026-07-22T09:23:44.657" v="236" actId="1076"/>
        <pc:sldMkLst>
          <pc:docMk/>
          <pc:sldMk cId="2055078088" sldId="277"/>
        </pc:sldMkLst>
        <pc:spChg chg="mod">
          <ac:chgData name="Mohammad Naheed" userId="a3b45e4450f01762" providerId="LiveId" clId="{CECCA622-4F77-4243-B3A0-EC36105033AD}" dt="2026-07-22T09:23:44.657" v="236" actId="1076"/>
          <ac:spMkLst>
            <pc:docMk/>
            <pc:sldMk cId="2055078088" sldId="277"/>
            <ac:spMk id="2" creationId="{C6F53DA4-CB17-041D-6448-175C6D8FBF48}"/>
          </ac:spMkLst>
        </pc:spChg>
      </pc:sldChg>
      <pc:sldMasterChg chg="modSldLayout">
        <pc:chgData name="Mohammad Naheed" userId="a3b45e4450f01762" providerId="LiveId" clId="{CECCA622-4F77-4243-B3A0-EC36105033AD}" dt="2026-07-22T07:47:56.343" v="0" actId="478"/>
        <pc:sldMasterMkLst>
          <pc:docMk/>
          <pc:sldMasterMk cId="3132383068" sldId="2147483758"/>
        </pc:sldMasterMkLst>
        <pc:sldLayoutChg chg="delSp mod">
          <pc:chgData name="Mohammad Naheed" userId="a3b45e4450f01762" providerId="LiveId" clId="{CECCA622-4F77-4243-B3A0-EC36105033AD}" dt="2026-07-22T07:47:56.343" v="0" actId="478"/>
          <pc:sldLayoutMkLst>
            <pc:docMk/>
            <pc:sldMasterMk cId="3132383068" sldId="2147483758"/>
            <pc:sldLayoutMk cId="1699714802" sldId="214748376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7/24/2026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84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1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8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7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9090-5EE3-53B2-5ED9-8A24E266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366" y="634997"/>
            <a:ext cx="11567160" cy="138074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CSA-0509 database Management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61227-49D9-9A55-254D-7313D6718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:</a:t>
            </a:r>
          </a:p>
          <a:p>
            <a:r>
              <a:rPr lang="en-IN" dirty="0"/>
              <a:t>A Mohammad Naheed </a:t>
            </a:r>
            <a:br>
              <a:rPr lang="en-IN" dirty="0"/>
            </a:br>
            <a:r>
              <a:rPr lang="en-IN" dirty="0"/>
              <a:t>(192525336)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45EFB-3352-7AE0-1695-F240E8CD39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flipH="1">
            <a:off x="4325111" y="2583464"/>
            <a:ext cx="4398263" cy="36512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6A04A6-E412-6D82-CD39-D2DC2FDE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7/24/2026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6E90D-18AA-F734-E4B3-931B232135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AFCDA-A12B-0922-7BF8-A079C4EE58F9}"/>
              </a:ext>
            </a:extLst>
          </p:cNvPr>
          <p:cNvSpPr txBox="1"/>
          <p:nvPr/>
        </p:nvSpPr>
        <p:spPr>
          <a:xfrm>
            <a:off x="429768" y="4654296"/>
            <a:ext cx="420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Guided By :</a:t>
            </a:r>
          </a:p>
          <a:p>
            <a:r>
              <a:rPr lang="en-IN" dirty="0"/>
              <a:t>Dr R Kesavan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70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1E53-DE4D-6D7C-5E5A-BDB17F8D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 Create and Present an ER Diagram for an Online Library System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3CB2F-AAAC-B72E-A0F8-D5DE65740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stands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Relationship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is a graphical representation of a database.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entities, attributes, and relationships.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blueprint before database implementation.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minimizes errors during database design.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communication between developers and users.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Database Management Systems (DBMS).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8F48E-244D-100C-655A-897997FD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C9E57-12F7-66E6-ACA7-60E0BF0E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9377-E990-2629-FA13-B0C49969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ER Diagram?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C9FC92-07EC-D7F6-EFBB-78B40831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conceptual model used to design databases.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real-world objects and their relationships.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before creating database tables.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overall database structure.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IN" b="1" dirty="0"/>
              <a:t>Main Components</a:t>
            </a:r>
          </a:p>
          <a:p>
            <a:r>
              <a:rPr lang="en-IN" b="1" dirty="0"/>
              <a:t>Entity</a:t>
            </a:r>
            <a:r>
              <a:rPr lang="en-IN" dirty="0"/>
              <a:t> – A real-world object (Book, Member, Librarian). </a:t>
            </a:r>
          </a:p>
          <a:p>
            <a:r>
              <a:rPr lang="en-IN" b="1" dirty="0"/>
              <a:t>Attribute</a:t>
            </a:r>
            <a:r>
              <a:rPr lang="en-IN" dirty="0"/>
              <a:t> – Characteristics of an entity (Book ID, Name). </a:t>
            </a:r>
          </a:p>
          <a:p>
            <a:r>
              <a:rPr lang="en-IN" b="1" dirty="0"/>
              <a:t>Relationship</a:t>
            </a:r>
            <a:r>
              <a:rPr lang="en-IN" dirty="0"/>
              <a:t> – Connection between entities (Borrows, Issues). </a:t>
            </a:r>
          </a:p>
          <a:p>
            <a:r>
              <a:rPr lang="en-IN" b="1" dirty="0"/>
              <a:t>Primary Key</a:t>
            </a:r>
            <a:r>
              <a:rPr lang="en-IN" dirty="0"/>
              <a:t> – Uniquely identifies each record. </a:t>
            </a:r>
          </a:p>
          <a:p>
            <a:r>
              <a:rPr lang="en-IN" b="1" dirty="0"/>
              <a:t>Cardinality</a:t>
            </a:r>
            <a:r>
              <a:rPr lang="en-IN" dirty="0"/>
              <a:t> – Defines how entities are related (1:1, 1:M, M:N).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D7D82-EFF7-C68C-47F0-1B683AF2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C8195-B0D7-0534-ADF6-BA38126D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63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68DB-4FA2-79C0-0C70-5A40190CF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ER Diagram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E5DE1-EEAA-3A38-749F-F8FF1A89D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Provides a clear database structure.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Reduces duplicate data.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Improves data integrity.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Ensures consistency of information.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Simplifies database implementation.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Supports easy modification and maintenance.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37609-DD02-2694-501D-6DC27E37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9D26D-5422-C7A7-ADD0-0067A3B8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D09B1-A214-3E91-2E84-67C86D39C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510" y="1180889"/>
            <a:ext cx="6102096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1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AD2C-72E5-BAFD-9163-F9622D6C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8FC90-3653-5F2A-8EA7-DD784CFE6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ER Diagram is the foundation of database design.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It identifies entities, attributes, and relationships.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It helps build an efficient Online Library Management System.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It improves accuracy, consistency, and scalability.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It serves as the basis for creating relational databases.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F5AD5-8FE6-1999-2872-6B2B2D8D8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DCAE-EFEA-237E-B3B3-304121D8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0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DC75-4EAB-18C8-2E5C-7122FFF9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2: EER Model – Generalization and Specialization with a University Case Study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D641C3-BBC8-966D-CF01-4804D4C2D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EER stands for </a:t>
            </a:r>
            <a:r>
              <a:rPr lang="en-IN" b="1" dirty="0"/>
              <a:t>Enhanced Entity Relationship</a:t>
            </a:r>
            <a:r>
              <a:rPr lang="en-IN" dirty="0"/>
              <a:t> Model.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is an extension of the basic ER model.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provides advanced features for database modeling.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supports inheritance concepts through generalization and specialization.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represents complex real-world scenarios more effectively.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improves database flexibility and scalability. 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BC979-7E50-A28F-015A-463A7BF8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6AEA-E4A8-5872-EE51-C165F120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47F9-AE56-C425-616A-B3B50162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an EER Model?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CC953-2D4C-6823-E0FB-8A683AD3E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Definition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An advanced version of the ER model.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Includes all ER model concepts along with additional features.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Models complex relationships more accurately.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Supports inheritance between entities.</a:t>
            </a:r>
          </a:p>
          <a:p>
            <a:r>
              <a:rPr lang="en-IN" b="1" dirty="0"/>
              <a:t>Features of EER Model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Generalization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Specialization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Inheritance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Superclass and Subclass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Aggregation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Categorization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2A173-3411-8BAB-35DA-6EDA328D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415D7-2E42-D67A-C8C8-C016F7F7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C6D0FC-0055-5433-1BC4-B8A7F8743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0" y="3121784"/>
            <a:ext cx="5678424" cy="373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5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5710-C2B6-7DCF-A7C5-9554D5F4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EER Model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A6BA4-A25D-CE41-B28B-6D85BB4B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Models complex databases accurately.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Supports inheritance of common attributes.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Reduces data redundancy.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Improves database consistency.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Makes database maintenance easier.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9BF44-6210-61EA-E58E-25D1B5AA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58F4-8699-1E85-40AD-61572746D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3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3F1C-61CE-2F6E-8F04-734D09B0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B06C4-A5D7-448B-FD2B-6466920B402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6AF7B-9193-068A-1DCF-3C7B2041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EER is an advanced version of the ER model.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Generalization combines similar entities into a superclass.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Specialization divides a superclass into specialized subclasses.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The University case study demonstrates efficient organization of students, faculty, and staff.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EER models improve database design, flexibility, and maintainability.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13657-6747-E48B-935B-C550DAC3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87E16-66AB-E601-56A5-2BA82483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5035-4374-FF17-96E1-47A56ACC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3: Data Independence (Logical and Physical) and its Significance in DBMS Architecture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06444-FB95-E077-036D-E6557858151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41A10-288E-EA19-5826-94C9FCC3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Data Independence is a key feature of Database Management Systems (DBMS).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It allows changes at one level of the database without affecting other levels.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It separates the database structure from application programs.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It makes databases flexible and easier to maintain.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It reduces the cost of database modifications.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4E009-FD75-EDC6-EEDC-4FE787F4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026C5-9112-B0C3-0BD2-DA3AF3C86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9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8472-67F7-4692-D0B0-C8BB2C0E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Independence?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962CE-ACCB-2CAE-6781-424167E1356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536AD-60B1-74E7-3F01-530A257F9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 Independence is the ability to modify the database schema without changing application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enables changes in database design while keeping user applications unaffected.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ensures smooth database maintenance and upgrades. </a:t>
            </a:r>
          </a:p>
          <a:p>
            <a:r>
              <a:rPr lang="en-IN" b="1" dirty="0"/>
              <a:t>Need for Data Independence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Supports database growth.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Simplifies maintenance.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Improves flexibility.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Reduces development time.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787E5-06E1-7A61-72A3-5AEAA5AA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88FF-53AA-C82E-F87D-8A58B117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83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219C-F3BD-0952-8132-36D7DED1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Data Independence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D351C-A63F-9010-7056-4D3BFA6410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AC83-8A5D-6A9C-CA73-17FA4E5D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maintenance effort.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database flexibility.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Enhances data security.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 database scalability.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Increases application stability. </a:t>
            </a:r>
          </a:p>
          <a:p>
            <a:r>
              <a:rPr lang="en-IN" b="1" dirty="0"/>
              <a:t>Real-World 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Banking Systems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Hospital Management Systems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University Databases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E-Commerce Websites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Airline Reservation Systems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7A206-A3C7-4AC3-6960-538FCC18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27A1-13BD-B36D-7732-DFEDE752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4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B0163-4609-F795-68EF-7D067268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B22D5-99F2-3A2C-BA70-9D84AB369F5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3137E-FF5A-DA83-2242-CE5F594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Data Independence allows changes in one level without affecting other levels.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is divided into </a:t>
            </a:r>
            <a:r>
              <a:rPr lang="en-IN" b="1" dirty="0"/>
              <a:t>Physical Data Independence</a:t>
            </a:r>
            <a:r>
              <a:rPr lang="en-IN" dirty="0"/>
              <a:t> and </a:t>
            </a:r>
            <a:r>
              <a:rPr lang="en-IN" b="1" dirty="0"/>
              <a:t>Logical Data Independence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three-schema architecture helps achieve data independence.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improves flexibility, performance, security, and maintainability.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is one of the most important features of modern DBMS.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B0A5D-40B9-64DA-BAD4-E269E518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BCB0-9841-4934-6D5F-11F72BC1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78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195C-9F65-B403-83FC-37BB3A46A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4: Software Components of a DBMS (Query Processor, Storage Manager, and Transaction Manager) 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DE9070-0D1E-E359-FA16-37F5FA4257D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B80EA-4680-8843-A7EE-BE56B78F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  <a:p>
            <a:r>
              <a:rPr lang="en-IN" dirty="0"/>
              <a:t>A Database Management System (DBMS) is software used to create, manage, and retrieve data efficiently. </a:t>
            </a:r>
          </a:p>
          <a:p>
            <a:r>
              <a:rPr lang="en-IN" dirty="0"/>
              <a:t>It consists of several software components that work together. </a:t>
            </a:r>
          </a:p>
          <a:p>
            <a:r>
              <a:rPr lang="en-IN" dirty="0"/>
              <a:t>These components process queries, manage storage, and ensure reliable transactions. </a:t>
            </a:r>
          </a:p>
          <a:p>
            <a:r>
              <a:rPr lang="en-IN" dirty="0"/>
              <a:t>They improve the performance, security, and consistency of the database. </a:t>
            </a:r>
          </a:p>
          <a:p>
            <a:r>
              <a:rPr lang="en-IN" dirty="0"/>
              <a:t>The three main software components are: </a:t>
            </a:r>
          </a:p>
          <a:p>
            <a:pPr lvl="1"/>
            <a:r>
              <a:rPr lang="en-IN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 </a:t>
            </a:r>
          </a:p>
          <a:p>
            <a:pPr lvl="1"/>
            <a:r>
              <a:rPr lang="en-IN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 </a:t>
            </a:r>
          </a:p>
          <a:p>
            <a:pPr lvl="1"/>
            <a:r>
              <a:rPr lang="en-IN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0D5F2-7D81-FABF-9A62-20A401A6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CB2A-86DA-8B7D-2339-4CB7A551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4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F896-19D7-D6F2-8FC2-AF179E99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DBMS Software Components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BCF14-95E0-E521-E788-DBA6FB23E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Major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Query Processor</a:t>
            </a:r>
            <a:r>
              <a:rPr lang="en-IN" dirty="0"/>
              <a:t> – Interprets and executes SQL queries.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Storage Manager</a:t>
            </a:r>
            <a:r>
              <a:rPr lang="en-IN" dirty="0"/>
              <a:t> – Manages physical storage and retrieval of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Transaction Manager</a:t>
            </a:r>
            <a:r>
              <a:rPr lang="en-IN" dirty="0"/>
              <a:t> – Ensures safe and reliable execution of transactions.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components work together to provide efficient database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They help maintain data integrity, security, and performance. </a:t>
            </a:r>
          </a:p>
          <a:p>
            <a:r>
              <a:rPr lang="en-IN" b="1" dirty="0"/>
              <a:t>Workflow</a:t>
            </a:r>
          </a:p>
          <a:p>
            <a:r>
              <a:rPr lang="en-IN" b="1" dirty="0"/>
              <a:t>User → SQL Query → Query Processor → Storage Manager → Database → Transaction Manager → Result</a:t>
            </a:r>
            <a:endParaRPr lang="en-IN" dirty="0"/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41420-6E42-FE50-0760-BA9BAF49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80C89-97EC-EBBE-F659-9F33607C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0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4191-0ACA-3468-319E-3614B81D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DBMS Software Components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1408F-E944-37E7-720D-E415EFAF879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E1576-AB39-FF40-CBCC-1B52358E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Enables fast query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secure and efficient data storage.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Ensures reliable transaction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Maintains data consistency and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Supports multiple users simultaneously.</a:t>
            </a:r>
          </a:p>
          <a:p>
            <a:endParaRPr lang="en-IN" dirty="0"/>
          </a:p>
          <a:p>
            <a:r>
              <a:rPr lang="en-IN" b="1" dirty="0"/>
              <a:t>Applications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Banking Systems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Hospital Management Systems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Airline Reservation Systems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E-Commerce Platforms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University Management Systems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Library Management Systems 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B2523-98EC-6749-6161-D477DF54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1F3C4-C7F6-1A1F-9395-AA81295B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9D0D05-72FD-2744-21EA-55CDA607D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0" y="2057400"/>
            <a:ext cx="5468112" cy="32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86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2EEE-4431-A144-4CA8-165DEE8C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BC70D-9F78-704A-1EFA-DF529EE179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B5A63-536B-3DF9-0831-0523DBE58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consists of several software components that work together efficiently.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Processor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and optimizes SQL queries.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and retrieves data securely.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reliable and consistent transactions using ACID properties.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components improve the performance, security, and reliability of a database system.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C1BA5-5F14-9E7F-0DFC-DA64519A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E9310-3ED9-FB60-26CB-CF1E9B4F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1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1470-FA60-6367-752F-7D6343AC5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5: Strong and Weak Entities in ER Modeling with Real-World Examples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E70E6-2067-5ED8-7A8B-60EE0B65A17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487B8-190D-4D92-9E8B-5AD96CBC1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ER (Entity-Relationship) modeling is used to design databases.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An entity represents a real-world object or concept.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Entities are classified into </a:t>
            </a:r>
            <a:r>
              <a:rPr lang="en-IN" b="1" dirty="0"/>
              <a:t>Strong Entities</a:t>
            </a:r>
            <a:r>
              <a:rPr lang="en-IN" dirty="0"/>
              <a:t> and </a:t>
            </a:r>
            <a:r>
              <a:rPr lang="en-IN" b="1" dirty="0"/>
              <a:t>Weak Entities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Strong entities can exist independently.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Weak entities depend on strong entities for their existence.</a:t>
            </a:r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9A650-F34C-A359-C9F0-C3932C98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27DFA-42F3-FFD9-91B1-CCD571C1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1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97A4-36B7-EF4E-E597-2C8B4E33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4B210-D5D8-13F3-FE61-36DB0ACE0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Strong Entity is an entity that can exist independently.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has its own </a:t>
            </a:r>
            <a:r>
              <a:rPr lang="en-IN" b="1" dirty="0"/>
              <a:t>Primary Key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does not depend on any other entity for identification.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record is uniquely identified using its primary key.</a:t>
            </a:r>
          </a:p>
          <a:p>
            <a:r>
              <a:rPr lang="en-IN" sz="2400" b="1" dirty="0"/>
              <a:t>Weak Entity</a:t>
            </a:r>
          </a:p>
          <a:p>
            <a:r>
              <a:rPr lang="en-IN" b="1" dirty="0"/>
              <a:t>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Weak Entity is an entity that cannot exist independently.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depends on a Strong Entity for its identification.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does not have a complete primary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is represented by a </a:t>
            </a:r>
            <a:r>
              <a:rPr lang="en-IN" b="1" dirty="0"/>
              <a:t>double rectangle</a:t>
            </a:r>
            <a:r>
              <a:rPr lang="en-IN" dirty="0"/>
              <a:t> in an ER diagram.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FDEC2-38EF-E16F-2EA3-3418AFE6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F87AE-E8DB-6F07-83C3-B6B525FE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115ADB-1CE9-6E39-F2AF-997359182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2"/>
          <a:stretch>
            <a:fillRect/>
          </a:stretch>
        </p:blipFill>
        <p:spPr>
          <a:xfrm>
            <a:off x="6848856" y="2560320"/>
            <a:ext cx="451713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28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B4894E3E-6FCF-E3D9-57DC-C3843E5FE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412825"/>
              </p:ext>
            </p:extLst>
          </p:nvPr>
        </p:nvGraphicFramePr>
        <p:xfrm>
          <a:off x="746760" y="2536615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432748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53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Strong Entity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Weak Entity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17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Exists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Depends on a 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36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Has its own 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a Partial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35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exist without another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Cannot exist without its owner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7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Represented by a single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Represented by a double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8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Identification is 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Identification depends on the 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88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Student,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Dependent, Order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78731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E2E326D-B45D-904E-A47D-FAFAFEA1CF5F}"/>
              </a:ext>
            </a:extLst>
          </p:cNvPr>
          <p:cNvSpPr txBox="1"/>
          <p:nvPr/>
        </p:nvSpPr>
        <p:spPr>
          <a:xfrm>
            <a:off x="3412998" y="149783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Comparison Between Strong and Weak Entities</a:t>
            </a:r>
          </a:p>
        </p:txBody>
      </p:sp>
    </p:spTree>
    <p:extLst>
      <p:ext uri="{BB962C8B-B14F-4D97-AF65-F5344CB8AC3E}">
        <p14:creationId xmlns:p14="http://schemas.microsoft.com/office/powerpoint/2010/main" val="1725981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AB41-3DC0-8990-6CBF-48B6A924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2F9B5-1B68-8A9D-642A-9AC7B9FA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and Weak Entities are fundamental concepts in ER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A Strong Entity has an independent existence and its own primary key.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Weak Entity depends on a Strong Entity and uses a partial key for identification.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Understanding these concepts helps in designing reliable and efficient databases.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69AF-B507-A962-1A35-C833B8D6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5126-DF2E-CFCF-6038-921F6806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36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3DA4-CB17-041D-6448-175C6D8F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76" y="136525"/>
            <a:ext cx="14623800" cy="4223601"/>
          </a:xfrm>
        </p:spPr>
        <p:txBody>
          <a:bodyPr>
            <a:normAutofit/>
          </a:bodyPr>
          <a:lstStyle/>
          <a:p>
            <a:r>
              <a:rPr lang="en-IN" sz="9600" dirty="0">
                <a:latin typeface="Bradley Hand ITC" panose="03070402050302030203" pitchFamily="66" charset="0"/>
              </a:rPr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54947-9ED3-48C9-F428-8F905A20C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E7324-409D-24C5-0A28-36E4F97E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78088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65</TotalTime>
  <Words>1316</Words>
  <Application>Microsoft Office PowerPoint</Application>
  <PresentationFormat>Widescreen</PresentationFormat>
  <Paragraphs>240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Bradley Hand ITC</vt:lpstr>
      <vt:lpstr>Courier New</vt:lpstr>
      <vt:lpstr>Felix Titling</vt:lpstr>
      <vt:lpstr>Goudy Old Style</vt:lpstr>
      <vt:lpstr>Times New Roman</vt:lpstr>
      <vt:lpstr>Wingdings</vt:lpstr>
      <vt:lpstr>Archway</vt:lpstr>
      <vt:lpstr>CSA-0509 database Management system </vt:lpstr>
      <vt:lpstr>Question 1: Create and Present an ER Diagram for an Online Library System </vt:lpstr>
      <vt:lpstr>What is an ER Diagram? </vt:lpstr>
      <vt:lpstr>Advantages of ER Diagram </vt:lpstr>
      <vt:lpstr>Conclusion</vt:lpstr>
      <vt:lpstr>Question 2: EER Model – Generalization and Specialization with a University Case Study  </vt:lpstr>
      <vt:lpstr>What is an EER Model?</vt:lpstr>
      <vt:lpstr>Advantages of EER Model </vt:lpstr>
      <vt:lpstr>Conclusion</vt:lpstr>
      <vt:lpstr>Question 3: Data Independence (Logical and Physical) and its Significance in DBMS Architecture </vt:lpstr>
      <vt:lpstr>What is Data Independence?</vt:lpstr>
      <vt:lpstr>Significance of Data Independence </vt:lpstr>
      <vt:lpstr>CONCLUSION </vt:lpstr>
      <vt:lpstr>Question 4: Software Components of a DBMS (Query Processor, Storage Manager, and Transaction Manager)  </vt:lpstr>
      <vt:lpstr>Overview of DBMS Software Components</vt:lpstr>
      <vt:lpstr>Importance of DBMS Software Components</vt:lpstr>
      <vt:lpstr>Conclusion</vt:lpstr>
      <vt:lpstr>Question 5: Strong and Weak Entities in ER Modeling with Real-World Examples </vt:lpstr>
      <vt:lpstr>Strong Entity </vt:lpstr>
      <vt:lpstr>PowerPoint Presentation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Naheed</dc:creator>
  <cp:lastModifiedBy>Mohammad Naheed</cp:lastModifiedBy>
  <cp:revision>1</cp:revision>
  <dcterms:created xsi:type="dcterms:W3CDTF">2026-07-22T07:03:38Z</dcterms:created>
  <dcterms:modified xsi:type="dcterms:W3CDTF">2026-07-24T03:01:13Z</dcterms:modified>
</cp:coreProperties>
</file>