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6" r:id="rId9"/>
    <p:sldId id="270" r:id="rId10"/>
    <p:sldId id="261" r:id="rId11"/>
    <p:sldId id="263" r:id="rId12"/>
    <p:sldId id="274" r:id="rId13"/>
    <p:sldId id="276" r:id="rId14"/>
    <p:sldId id="279" r:id="rId15"/>
    <p:sldId id="271" r:id="rId16"/>
    <p:sldId id="265" r:id="rId17"/>
    <p:sldId id="272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B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D90262-8821-4AE3-B12B-BE6B0D7FDD9D}" v="16" dt="2026-08-21T03:43:19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195DF-0A05-440C-81B9-EB12A66C763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AF24A-9C0B-4955-84F9-9C167B3349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6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F24A-9C0B-4955-84F9-9C167B3349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28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F24A-9C0B-4955-84F9-9C167B33490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50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19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8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54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998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170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05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89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93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57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07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272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89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7686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1317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86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612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986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15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455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777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565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0426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167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06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43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999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560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12;p2">
            <a:extLst>
              <a:ext uri="{FF2B5EF4-FFF2-40B4-BE49-F238E27FC236}">
                <a16:creationId xmlns:a16="http://schemas.microsoft.com/office/drawing/2014/main" id="{7F7F727B-ED84-EBA9-C023-AC2978603B7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06668" y="705924"/>
            <a:ext cx="10981593" cy="41057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1" name="Google Shape;13;p2">
            <a:extLst>
              <a:ext uri="{FF2B5EF4-FFF2-40B4-BE49-F238E27FC236}">
                <a16:creationId xmlns:a16="http://schemas.microsoft.com/office/drawing/2014/main" id="{6E197C9B-A489-79D0-8E41-37B6FAEE43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6668" y="4992520"/>
            <a:ext cx="10981593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971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ontent Placeholder 7">
            <a:extLst>
              <a:ext uri="{FF2B5EF4-FFF2-40B4-BE49-F238E27FC236}">
                <a16:creationId xmlns:a16="http://schemas.microsoft.com/office/drawing/2014/main" id="{F6D25BFA-CA85-C1D8-EDFC-B0A093E022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790700"/>
            <a:ext cx="5257799" cy="438150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8" name="Content Placeholder 7">
            <a:extLst>
              <a:ext uri="{FF2B5EF4-FFF2-40B4-BE49-F238E27FC236}">
                <a16:creationId xmlns:a16="http://schemas.microsoft.com/office/drawing/2014/main" id="{9993900D-B0A5-D8F7-FED8-720EBA85E1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1" y="1790700"/>
            <a:ext cx="5096132" cy="438150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3BA20-4333-CEE9-0870-6AEAD0DB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2A7E9-8D26-30BF-EE5E-0920A52E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FC5DF-E300-9F54-FD16-B363E8CE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A4961-DDA3-DFB4-B12B-8E562EE4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1093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5;p14">
            <a:extLst>
              <a:ext uri="{FF2B5EF4-FFF2-40B4-BE49-F238E27FC236}">
                <a16:creationId xmlns:a16="http://schemas.microsoft.com/office/drawing/2014/main" id="{189C7087-A64C-2A9A-E166-BB9663A0EE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1999-E368-8823-271A-BC3541CC4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90700"/>
            <a:ext cx="8778411" cy="43815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140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FontTx/>
              <a:buNone/>
              <a:defRPr sz="1400">
                <a:solidFill>
                  <a:schemeClr val="bg1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FontTx/>
              <a:buNone/>
              <a:defRPr sz="1400">
                <a:solidFill>
                  <a:schemeClr val="bg1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FontTx/>
              <a:buNone/>
              <a:defRPr sz="1400">
                <a:solidFill>
                  <a:schemeClr val="bg1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FontTx/>
              <a:buNone/>
              <a:defRPr sz="1400">
                <a:solidFill>
                  <a:schemeClr val="bg1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57120DF-D5C8-9A01-F982-26816214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3D0E8DC-D1E9-89BC-CF83-86FB1FA6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3DFA59-9DFA-20A3-B026-B84C33BD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39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794C718-D781-42EC-B397-B5E00A40EC5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F747EE8-9324-4392-8977-5C38F4F351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97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  <p:sldLayoutId id="2147483709" r:id="rId30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99F7-1CBC-19AB-558E-58295A91B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203" y="3289558"/>
            <a:ext cx="10981593" cy="18242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Helvetica" pitchFamily="2" charset="0"/>
                <a:cs typeface="Segoe UI Semibold" panose="020B0702040204020203" pitchFamily="34" charset="0"/>
              </a:rPr>
              <a:t>Cinetix Vision – NextGen  Movie  Ticket </a:t>
            </a:r>
            <a:r>
              <a:rPr lang="en-US" sz="4000" b="1" dirty="0">
                <a:solidFill>
                  <a:schemeClr val="tx1"/>
                </a:solidFill>
                <a:latin typeface="Helvetica" pitchFamily="2" charset="0"/>
                <a:cs typeface="Segoe UI Semibold" panose="020B0702040204020203" pitchFamily="34" charset="0"/>
              </a:rPr>
              <a:t>Reservation</a:t>
            </a:r>
            <a:r>
              <a:rPr lang="en-IN" sz="4000" b="1" dirty="0">
                <a:solidFill>
                  <a:schemeClr val="tx1"/>
                </a:solidFill>
                <a:latin typeface="Helvetica" pitchFamily="2" charset="0"/>
                <a:cs typeface="Segoe UI Semibold" panose="020B0702040204020203" pitchFamily="34" charset="0"/>
              </a:rPr>
              <a:t> Platform</a:t>
            </a:r>
            <a:br>
              <a:rPr lang="en-IN" sz="4000" b="1" dirty="0">
                <a:solidFill>
                  <a:schemeClr val="tx1"/>
                </a:solidFill>
                <a:latin typeface="Helvetica" pitchFamily="2" charset="0"/>
                <a:cs typeface="Segoe UI Semibold" panose="020B0702040204020203" pitchFamily="34" charset="0"/>
              </a:rPr>
            </a:br>
            <a:endParaRPr lang="en-IN" sz="4000" b="1" dirty="0">
              <a:solidFill>
                <a:schemeClr val="tx1"/>
              </a:solidFill>
              <a:latin typeface="Helvetica" pitchFamily="2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36F9E-0CAC-3A38-F9DD-8A5A48221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920" y="5743717"/>
            <a:ext cx="3285147" cy="2424803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Guided by 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Dr R Kesavan</a:t>
            </a:r>
          </a:p>
          <a:p>
            <a:pPr algn="l"/>
            <a:endParaRPr lang="en-IN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ECE7B2C-0671-B9D5-F27F-AD4FAC8FFC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573" y="225740"/>
            <a:ext cx="7820388" cy="960367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CF248F32-7D41-9BB1-7771-D4ACAD185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618" y="93663"/>
            <a:ext cx="919162" cy="914399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2D9FD680-6FBE-BBF8-A6CF-461CB2B422A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82143" y="122238"/>
            <a:ext cx="698499" cy="8858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A007E0-1C04-BE8E-308F-97D8635039D2}"/>
              </a:ext>
            </a:extLst>
          </p:cNvPr>
          <p:cNvSpPr txBox="1"/>
          <p:nvPr/>
        </p:nvSpPr>
        <p:spPr>
          <a:xfrm>
            <a:off x="1533741" y="1871811"/>
            <a:ext cx="114117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CSA-0509 DATABASE MANAGEMENT SYSTEM  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2D9EC-A323-9CCA-8A9B-5D1CC74E797B}"/>
              </a:ext>
            </a:extLst>
          </p:cNvPr>
          <p:cNvSpPr txBox="1"/>
          <p:nvPr/>
        </p:nvSpPr>
        <p:spPr>
          <a:xfrm>
            <a:off x="6597043" y="5431931"/>
            <a:ext cx="4464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/>
              <a:t>192525336-A Mohammad Naheed</a:t>
            </a:r>
          </a:p>
          <a:p>
            <a:r>
              <a:rPr lang="en-US" dirty="0"/>
              <a:t>192525103-K Kalyan</a:t>
            </a:r>
          </a:p>
          <a:p>
            <a:r>
              <a:rPr lang="en-US" dirty="0"/>
              <a:t>192525464-Harsha  Vardhan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9865AB-65B1-C2D3-03FB-C84113BD1FA0}"/>
              </a:ext>
            </a:extLst>
          </p:cNvPr>
          <p:cNvSpPr txBox="1"/>
          <p:nvPr/>
        </p:nvSpPr>
        <p:spPr>
          <a:xfrm>
            <a:off x="1642573" y="2652889"/>
            <a:ext cx="848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Capstone Project Presentation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1157744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E89B-57D5-2521-1252-B679357AF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2920" y="404921"/>
            <a:ext cx="10963655" cy="9723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70C09-4292-E2B2-3E21-882B8F34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2861" cy="4351338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Smart </a:t>
            </a:r>
            <a:r>
              <a:rPr lang="en-IN" sz="1800" b="1" dirty="0"/>
              <a:t>DBMS-driven cinema management platform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Automates movie, </a:t>
            </a:r>
            <a:r>
              <a:rPr lang="en-IN" sz="1800" dirty="0" err="1"/>
              <a:t>theater</a:t>
            </a:r>
            <a:r>
              <a:rPr lang="en-IN" sz="1800" dirty="0"/>
              <a:t>, show, seat &amp; booking management </a:t>
            </a:r>
          </a:p>
          <a:p>
            <a:pPr lvl="0"/>
            <a:r>
              <a:rPr lang="en-IN" sz="1800" dirty="0"/>
              <a:t>Uses </a:t>
            </a:r>
            <a:r>
              <a:rPr lang="en-IN" sz="1800" b="1" dirty="0"/>
              <a:t>AI to understand customer preferences and demand</a:t>
            </a:r>
            <a:r>
              <a:rPr lang="en-IN" sz="1800" dirty="0"/>
              <a:t> </a:t>
            </a:r>
          </a:p>
          <a:p>
            <a:pPr lvl="0"/>
            <a:r>
              <a:rPr lang="en-IN" sz="1800" b="1" dirty="0"/>
              <a:t>Dynamic pricing</a:t>
            </a:r>
            <a:r>
              <a:rPr lang="en-IN" sz="1800" dirty="0"/>
              <a:t> based on real-time demand </a:t>
            </a:r>
          </a:p>
          <a:p>
            <a:pPr lvl="0"/>
            <a:r>
              <a:rPr lang="en-IN" sz="1800" dirty="0"/>
              <a:t>Smart offers to reduce </a:t>
            </a:r>
            <a:r>
              <a:rPr lang="en-IN" sz="1800" b="1" dirty="0"/>
              <a:t>unsold seats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Predicts show demand and </a:t>
            </a:r>
            <a:r>
              <a:rPr lang="en-IN" sz="1800" b="1" dirty="0"/>
              <a:t>future revenue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Converts booking data into </a:t>
            </a:r>
            <a:r>
              <a:rPr lang="en-IN" sz="1800" b="1" dirty="0"/>
              <a:t>business decisions</a:t>
            </a:r>
            <a:endParaRPr lang="en-IN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AAA4E1FA-6F77-221D-A713-81151B26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E7954072-AD5C-5655-1703-8002ED8531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1029" name="Picture 5" descr="What is a Database Management System? DBMS Explained – AtulHost">
            <a:extLst>
              <a:ext uri="{FF2B5EF4-FFF2-40B4-BE49-F238E27FC236}">
                <a16:creationId xmlns:a16="http://schemas.microsoft.com/office/drawing/2014/main" id="{6C803EB7-D0DA-AA5C-36C7-FB8200E5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05" y="3584944"/>
            <a:ext cx="4753618" cy="2339871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21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9DDE-11D9-4A50-57EC-FB1FD5F0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6ABF-CCDD-333F-6D2B-3BB6CB98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D9F9B-47E8-4CC7-1409-E8DF38615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81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Traditional movie reservation systems lack personalized recommendations and efficient seat selection, making the booking process time-consuming and less user-friendly.</a:t>
            </a:r>
            <a:br>
              <a:rPr lang="en-IN" sz="1800" dirty="0"/>
            </a:br>
            <a:r>
              <a:rPr lang="en-IN" sz="1800" dirty="0"/>
              <a:t>Users also face difficulties in finding suitable movies, showtimes, and available seats quickly.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9AE075ED-8B2E-8BE6-39D7-84665612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349D08F6-5F07-364F-1E96-F3FDDDC98B6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A01A2B-B846-A9A3-22D2-E0F56C8EACC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3282100" y="3522777"/>
            <a:ext cx="5763889" cy="2992789"/>
          </a:xfrm>
          <a:prstGeom prst="roundRect">
            <a:avLst/>
          </a:prstGeom>
          <a:ln>
            <a:solidFill>
              <a:srgbClr val="0E0B2C"/>
            </a:solidFill>
          </a:ln>
        </p:spPr>
      </p:pic>
    </p:spTree>
    <p:extLst>
      <p:ext uri="{BB962C8B-B14F-4D97-AF65-F5344CB8AC3E}">
        <p14:creationId xmlns:p14="http://schemas.microsoft.com/office/powerpoint/2010/main" val="219731172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383A-4E40-817D-BBCB-5E9EFE3C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FB8BD2-D715-9A94-A367-A65A7AD41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3102" y="4555827"/>
            <a:ext cx="7838898" cy="230217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942D5C-23C2-28C4-72BD-9DE7C44FC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40" y="173309"/>
            <a:ext cx="10963655" cy="9723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75A3-0875-2674-6854-1C31FD7B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05" y="1487022"/>
            <a:ext cx="10963656" cy="4513752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Develop a </a:t>
            </a:r>
            <a:r>
              <a:rPr lang="en-IN" sz="1800" b="1" dirty="0"/>
              <a:t>DBMS-based cinema management system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Provide fast and secure ticket reservation </a:t>
            </a:r>
          </a:p>
          <a:p>
            <a:pPr lvl="0"/>
            <a:r>
              <a:rPr lang="en-IN" sz="1800" dirty="0"/>
              <a:t>Predict movie/show demand </a:t>
            </a:r>
          </a:p>
          <a:p>
            <a:pPr lvl="0"/>
            <a:r>
              <a:rPr lang="en-IN" sz="1800" dirty="0"/>
              <a:t>Introduce </a:t>
            </a:r>
            <a:r>
              <a:rPr lang="en-IN" sz="1800" b="1" dirty="0"/>
              <a:t>dynamic ticket pricing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Generate smart offers for unsold seats </a:t>
            </a:r>
          </a:p>
          <a:p>
            <a:pPr lvl="0"/>
            <a:r>
              <a:rPr lang="en-IN" sz="1800" dirty="0"/>
              <a:t>Detect low-performing shows early </a:t>
            </a:r>
          </a:p>
          <a:p>
            <a:pPr lvl="0"/>
            <a:r>
              <a:rPr lang="en-IN" sz="1800" dirty="0"/>
              <a:t>Predict </a:t>
            </a:r>
            <a:r>
              <a:rPr lang="en-IN" sz="1800" b="1" dirty="0"/>
              <a:t>revenue and profit</a:t>
            </a:r>
            <a:r>
              <a:rPr lang="en-IN" sz="1800" dirty="0"/>
              <a:t> </a:t>
            </a:r>
          </a:p>
          <a:p>
            <a:pPr marL="0" lvl="0" indent="0">
              <a:buNone/>
            </a:pPr>
            <a:r>
              <a:rPr lang="en-IN" sz="1800" dirty="0"/>
              <a:t> </a:t>
            </a:r>
          </a:p>
          <a:p>
            <a:pPr algn="just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CC0DEB07-1B45-717C-BD77-1F5A6AED5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FD88AB49-B034-C4C1-32C0-B9A4C6EE669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079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9AFB-8DF9-EB56-B3BA-AE1287EF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B3E2-769F-9151-6AAE-7FEC3455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System Architecture / Workflow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C7F57A9-A209-EEB7-8325-F40884515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433" y="90320"/>
            <a:ext cx="8315740" cy="6920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registration/login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Movie browsing and seat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800" dirty="0"/>
              <a:t>Booking processing </a:t>
            </a:r>
          </a:p>
          <a:p>
            <a:pPr lvl="0"/>
            <a:r>
              <a:rPr lang="en-IN" sz="1800" dirty="0"/>
              <a:t>Seat management </a:t>
            </a:r>
          </a:p>
          <a:p>
            <a:pPr lvl="0"/>
            <a:r>
              <a:rPr lang="en-IN" sz="1800" dirty="0"/>
              <a:t>Business rules </a:t>
            </a:r>
          </a:p>
          <a:p>
            <a:pPr lvl="0"/>
            <a:r>
              <a:rPr lang="en-IN" sz="1800" dirty="0"/>
              <a:t>Communication between AI &amp; DBMS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(DBMS)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user data, movie details, theaters, bookings,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logs in and searches for movies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recommends movies based on preferences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selects movie, showtime, and seats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checks seat availability in database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Payment is processed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Booking confirmation is generated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E7B3B9-E9DE-B19D-FD4F-CB76F3BAF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34" y="1898375"/>
            <a:ext cx="6226033" cy="330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63702405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A8C5-6578-57D1-FFF0-BDB1B3DE7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48" y="-17247"/>
            <a:ext cx="10963655" cy="97237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</a:rPr>
              <a:t>Entity-Relationship(ER)</a:t>
            </a: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BD3B4EAB-4127-18C4-8929-ED6B74D4A3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9" name="Picture 8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EACE613A-B431-760D-2EBA-EF2044511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942E1A-F2AC-B315-AF4B-2F2340DB5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5568"/>
            <a:ext cx="12088368" cy="57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5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B45D-311C-55DF-E3B0-1C9319BB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415" y="634386"/>
            <a:ext cx="10963655" cy="972373"/>
          </a:xfrm>
        </p:spPr>
        <p:txBody>
          <a:bodyPr/>
          <a:lstStyle/>
          <a:p>
            <a:r>
              <a:rPr lang="en-IN" dirty="0"/>
              <a:t>🚀 Smart Revenue Engine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10715-BCDA-421C-EECE-FECFB67B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b="1" dirty="0"/>
              <a:t>Dynamic Pricing</a:t>
            </a:r>
            <a:r>
              <a:rPr lang="en-IN" dirty="0"/>
              <a:t> – Adjust ticket prices based on demand.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Smart Offers</a:t>
            </a:r>
            <a:r>
              <a:rPr lang="en-IN" dirty="0"/>
              <a:t> – Discount unsold seats before the show.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Dead-Show Detection</a:t>
            </a:r>
            <a:r>
              <a:rPr lang="en-IN" dirty="0"/>
              <a:t> – Identify low-demand shows early.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Smart Screen Allocation</a:t>
            </a:r>
            <a:r>
              <a:rPr lang="en-IN" dirty="0"/>
              <a:t> – Match screen size with demand.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Profit Prediction</a:t>
            </a:r>
            <a:r>
              <a:rPr lang="en-IN" dirty="0"/>
              <a:t> – Forecast revenue and profit for each show.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608406C9-8FE9-4141-B517-FB795D8BBD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7" name="Picture 6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7A2178B9-A872-9904-01EB-6A0205337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59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55C-ED43-2E00-5D66-F073B7C4F3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47934" y="1738383"/>
            <a:ext cx="6801868" cy="438150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admin authentication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movies,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theaters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screens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shows and timings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real-time bookings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occupancy percentage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dynamic pricing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Approve/manage smart offers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low-demand shows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revenue &amp; profit predictions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reports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DB2F0-877F-CB28-E46F-C566A413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08" y="382778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Helvetica" pitchFamily="2" charset="0"/>
              </a:rPr>
              <a:t>Module 1 – Admin Portal  </a:t>
            </a:r>
          </a:p>
        </p:txBody>
      </p:sp>
      <p:pic>
        <p:nvPicPr>
          <p:cNvPr id="13" name="object 6">
            <a:extLst>
              <a:ext uri="{FF2B5EF4-FFF2-40B4-BE49-F238E27FC236}">
                <a16:creationId xmlns:a16="http://schemas.microsoft.com/office/drawing/2014/main" id="{F81C3356-2C62-1706-1D1B-96F69C6188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14" name="Picture 13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D02B6983-7D3D-C63D-BB47-C7A8BB6B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1C86-449B-0221-80D9-A446E9DE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55C5-D18A-9B27-1D4D-46979E0C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Module 1: Final Output / Validation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75836-275A-57F4-8E8F-BDCC48A7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318758B1-59E3-073B-CDF4-DA6F2F155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5D61AFEB-2C5D-5EA1-FB24-595053BE49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085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2225-422C-C595-ADDC-FA97115B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F3AC1-99B1-11ED-0607-8D265FA046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47934" y="1782141"/>
            <a:ext cx="5096132" cy="438150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registration &amp; login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movies and shows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AI recommendations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seat availability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show recommendation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Price-aware seat/show suggestions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ticket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history 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A3DB0-6B65-4317-E22D-BDA108CD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Module 2: Customer Interface</a:t>
            </a: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293980DF-56A7-7B6F-A03F-FCA06AF2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5E6AF94B-0AE1-5D05-9D09-FFD1448426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C3DC-83C9-6EEB-64EF-C9561E57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AD7C-F9BF-BF98-40DD-17C9CBD5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Module 2: Final Output / Validation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EE86C-E98A-7F06-8802-E9D4C0DD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F12A1590-4576-3035-B9DF-C771B0E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A9B608E-2C09-749D-F8C3-41735E67E8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8604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D5E7-913E-55AF-B74D-A4751999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6A53-2B55-ECFC-9118-5048987D9C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47934" y="1690688"/>
            <a:ext cx="5096132" cy="438150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occupancy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Checked-in customers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Available/occupied seats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status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Delayed/cancelled alerts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issues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notifications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ü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B8A345-5B04-B06A-F447-6373AA7D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44742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Helvetica" pitchFamily="2" charset="0"/>
              </a:rPr>
              <a:t>Module 3 – Staff Portal</a:t>
            </a:r>
          </a:p>
        </p:txBody>
      </p:sp>
      <p:pic>
        <p:nvPicPr>
          <p:cNvPr id="13" name="object 6">
            <a:extLst>
              <a:ext uri="{FF2B5EF4-FFF2-40B4-BE49-F238E27FC236}">
                <a16:creationId xmlns:a16="http://schemas.microsoft.com/office/drawing/2014/main" id="{249AA80D-20FD-B229-CC84-C8C3086ED4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14" name="Picture 13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D0D9FD18-95F6-95CD-C2A4-42A1CB56A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9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E2D7-0A7C-2236-543E-B876A419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6AC2-18D8-3137-F927-6FCB46F8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Module 3: Final Output / Validation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33D1A-64C7-B276-B2FC-3951D06B4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125E308D-3363-8271-D018-0BEE37920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54E6830-E124-F7CF-60A5-EC489E88FF7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720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8F43-94C7-A1E1-147B-CC0DAB80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721" y="846244"/>
            <a:ext cx="10963655" cy="972373"/>
          </a:xfrm>
        </p:spPr>
        <p:txBody>
          <a:bodyPr/>
          <a:lstStyle/>
          <a:p>
            <a:r>
              <a:rPr lang="en-IN" dirty="0"/>
              <a:t>🧠 Cinema Intelligence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00CD0-793E-5E70-6EEF-A79415A54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IN" b="1" dirty="0"/>
          </a:p>
          <a:p>
            <a:pPr lvl="0">
              <a:lnSpc>
                <a:spcPct val="150000"/>
              </a:lnSpc>
            </a:pPr>
            <a:r>
              <a:rPr lang="en-IN" b="1" dirty="0"/>
              <a:t>Demand Forecasting</a:t>
            </a:r>
            <a:r>
              <a:rPr lang="en-IN" dirty="0"/>
              <a:t> – Predict future movie/show demand.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Customer Segmentation</a:t>
            </a:r>
            <a:r>
              <a:rPr lang="en-IN" dirty="0"/>
              <a:t> – Identify frequent and inactive customers.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Smart Show Selection</a:t>
            </a:r>
            <a:r>
              <a:rPr lang="en-IN" dirty="0"/>
              <a:t> – Recommend the best show, seat and price.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Business Dashboard</a:t>
            </a:r>
            <a:r>
              <a:rPr lang="en-IN" dirty="0"/>
              <a:t> – Track occupancy, revenue and performance. 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Core Innovation</a:t>
            </a:r>
            <a:r>
              <a:rPr lang="en-IN" dirty="0"/>
              <a:t> – Turn booking data into </a:t>
            </a:r>
            <a:r>
              <a:rPr lang="en-IN" b="1" dirty="0"/>
              <a:t>business decisions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4000B995-4169-0BED-044C-B0166E9A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68AA228A-846A-BB71-A123-48266482B24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00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71FA9-042C-7052-66A4-C8CB760D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52C8-D925-A22E-6C97-498EB47B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Testing &amp; Evaluation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D1C6779-6A76-171A-B5E6-FD600BFC99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6786"/>
            <a:ext cx="9615966" cy="269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Functional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: Verifies user login, movie selection, seat booking, and payment flow.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Database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: Ensures data integrity, consistency.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Performance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: Evaluates system response time and booking efficiency.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AI Evaluation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: Checks accuracy of movie recommendations based on user data and provides discount accordingly.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 User Acceptance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: Confirms system usability and reliability.</a:t>
            </a: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BD4D43F1-420F-0DDF-40B0-FC0BBF4E6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6F4129DA-32FD-EEE3-E40D-BB1506C778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39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1184-ABA0-B030-3AFF-967470A4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083A-F1AD-4371-30B4-7AA79BC9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6990EA-1804-8909-D36D-C9F696029C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1664" y="1609775"/>
            <a:ext cx="10984396" cy="401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1800" dirty="0"/>
              <a:t>DBMS provides secure and reliable data management </a:t>
            </a:r>
          </a:p>
          <a:p>
            <a:pPr lvl="0"/>
            <a:r>
              <a:rPr lang="en-IN" sz="1800"/>
              <a:t>Real-time </a:t>
            </a:r>
            <a:r>
              <a:rPr lang="en-IN" sz="1800" dirty="0"/>
              <a:t>data improves booking efficiency </a:t>
            </a:r>
          </a:p>
          <a:p>
            <a:pPr lvl="0"/>
            <a:r>
              <a:rPr lang="en-IN" sz="1800" b="1" dirty="0"/>
              <a:t>Smart Revenue Engine optimizes pricing and occupancy</a:t>
            </a:r>
            <a:r>
              <a:rPr lang="en-IN" sz="1800" dirty="0"/>
              <a:t> </a:t>
            </a:r>
          </a:p>
          <a:p>
            <a:pPr lvl="0"/>
            <a:r>
              <a:rPr lang="en-IN" sz="1800" b="1" dirty="0"/>
              <a:t>Cinema Intelligence supports business decisions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Predictive analytics helps cinemas plan ahead </a:t>
            </a:r>
          </a:p>
          <a:p>
            <a:pPr lvl="0"/>
            <a:r>
              <a:rPr lang="en-IN" sz="1800" dirty="0"/>
              <a:t>Reduces unsold seats and operational effort </a:t>
            </a:r>
          </a:p>
          <a:p>
            <a:pPr lvl="0"/>
            <a:r>
              <a:rPr lang="en-IN" sz="1800" dirty="0"/>
              <a:t>Creates opportunities for </a:t>
            </a:r>
            <a:r>
              <a:rPr lang="en-IN" sz="1800" b="1" dirty="0"/>
              <a:t>higher revenue and better customer satisfaction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endParaRPr lang="en-IN" sz="1800" b="1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A06B385F-F817-2EF1-56D2-2A54422B5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8636226D-6278-1467-2F4A-2EE6032968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985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5237E8-C807-DEDC-4C20-1632EB7E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Acharya, K. (2024). a Case Study on Online Ticket Booking System Project. Available at SSRN 4841210.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BEHRA, H. ONLINE MOVIE TICKET BOOKING SYSTEM (Doctoral dissertation, JAIN UNIVERSITY).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Bui, K. (2022). Application For Booking Movie Tickets Online.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Acharya, K. (2023). a Case Study of Cinema Management System Project. Available at SSRN 4841209.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Hasanaj, E., &amp; Beqiri, L. (2023). Development of the application for cinema management with. net technology.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Lazarevic, S., &amp;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Zuvela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 (2022, March). Design Of Information System To Support Movie Ticket Booking And Cinema Operations. In 2022 21st International Symposium INFOTEH-JAHORINA (INFOTEH) (pp. 1-6). IEEE.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Rizqi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I., Utomo, R. G., &amp; Al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Makky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(2023). Analysis The Impact of E-Service Quality on E-Customer Satisfaction in Cinema Ticket Booking Application. International Journal on Information and Communication Technology (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IJoICT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 9(2), 15-28.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C8BA15-0127-6E8C-C3DF-3D8774DA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Helvetica" pitchFamily="2" charset="0"/>
              </a:rPr>
              <a:t>References</a:t>
            </a:r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F19D1D3E-2107-2F6D-B177-3504E40D5F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05" y="273672"/>
            <a:ext cx="919162" cy="914399"/>
          </a:xfrm>
          <a:prstGeom prst="rect">
            <a:avLst/>
          </a:prstGeom>
        </p:spPr>
      </p:pic>
      <p:pic>
        <p:nvPicPr>
          <p:cNvPr id="5" name="Picture 4" descr="A logo with a letter s and a letter s&#10;&#10;AI-generated content may be incorrect.">
            <a:extLst>
              <a:ext uri="{FF2B5EF4-FFF2-40B4-BE49-F238E27FC236}">
                <a16:creationId xmlns:a16="http://schemas.microsoft.com/office/drawing/2014/main" id="{A926E451-A7B6-782E-66B4-30F27359C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653" y="317430"/>
            <a:ext cx="7048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4011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38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349</TotalTime>
  <Words>793</Words>
  <Application>Microsoft Office PowerPoint</Application>
  <PresentationFormat>Widescreen</PresentationFormat>
  <Paragraphs>120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Helvetica</vt:lpstr>
      <vt:lpstr>Neue Haas Grotesk Text Pro</vt:lpstr>
      <vt:lpstr>Roboto</vt:lpstr>
      <vt:lpstr>Segoe UI Semibold</vt:lpstr>
      <vt:lpstr>Times New Roman</vt:lpstr>
      <vt:lpstr>Wingdings</vt:lpstr>
      <vt:lpstr>Helena</vt:lpstr>
      <vt:lpstr>Cinetix Vision – NextGen  Movie  Ticket Reservation Platform </vt:lpstr>
      <vt:lpstr>Abstract</vt:lpstr>
      <vt:lpstr>Problem Statement</vt:lpstr>
      <vt:lpstr>Objectives</vt:lpstr>
      <vt:lpstr>System Architecture / Workflow</vt:lpstr>
      <vt:lpstr>Entity-Relationship(ER)</vt:lpstr>
      <vt:lpstr>🚀 Smart Revenue Engine </vt:lpstr>
      <vt:lpstr>Module 1 – Admin Portal  </vt:lpstr>
      <vt:lpstr>Module 1: Final Output / Validation</vt:lpstr>
      <vt:lpstr>Module 2: Customer Interface</vt:lpstr>
      <vt:lpstr>Module 2: Final Output / Validation</vt:lpstr>
      <vt:lpstr>Module 3 – Staff Portal</vt:lpstr>
      <vt:lpstr>Module 3: Final Output / Validation</vt:lpstr>
      <vt:lpstr>🧠 Cinema Intelligence </vt:lpstr>
      <vt:lpstr>Testing &amp; Evaluation 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Philip</dc:creator>
  <cp:lastModifiedBy>Mohammad Naheed</cp:lastModifiedBy>
  <cp:revision>23</cp:revision>
  <dcterms:created xsi:type="dcterms:W3CDTF">2026-02-06T18:44:12Z</dcterms:created>
  <dcterms:modified xsi:type="dcterms:W3CDTF">2026-09-02T16:11:34Z</dcterms:modified>
</cp:coreProperties>
</file>